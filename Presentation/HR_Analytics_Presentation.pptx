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A64"/>
    <a:srgbClr val="2773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FF67BD393A5F896/Documents/HR_Raw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FF67BD393A5F896/Documents/HR_Raw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FF67BD393A5F896/Documents/HR_Raw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FF67BD393A5F896/Documents/HR_Raw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FF67BD393A5F896/Documents/HR_Raw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FF67BD393A5F896/Documents/HR_Raw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[HR_Analytics_Dashboard.xlsx]PT1_TurnoverByDept1!PivotTable2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400" b="1" i="0" u="none" strike="noStrike" baseline="0">
                <a:solidFill>
                  <a:srgbClr val="1F3A6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Employee Turnover Rate by Department</a:t>
            </a:r>
            <a:endParaRPr lang="en-US" sz="1400" b="1">
              <a:solidFill>
                <a:srgbClr val="1F3A6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21678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21678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21678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PT1_TurnoverByDept1!$B$3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1678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PT1_TurnoverByDept1!$A$4:$A$10</c:f>
              <c:strCache>
                <c:ptCount val="6"/>
                <c:pt idx="0">
                  <c:v>Production</c:v>
                </c:pt>
                <c:pt idx="1">
                  <c:v>Software Engineering</c:v>
                </c:pt>
                <c:pt idx="2">
                  <c:v>Admin Offices</c:v>
                </c:pt>
                <c:pt idx="3">
                  <c:v>It/Is</c:v>
                </c:pt>
                <c:pt idx="4">
                  <c:v>Sales</c:v>
                </c:pt>
                <c:pt idx="5">
                  <c:v>Executive Office</c:v>
                </c:pt>
              </c:strCache>
            </c:strRef>
          </c:cat>
          <c:val>
            <c:numRef>
              <c:f>PT1_TurnoverByDept1!$B$4:$B$10</c:f>
              <c:numCache>
                <c:formatCode>0.0%</c:formatCode>
                <c:ptCount val="6"/>
                <c:pt idx="0">
                  <c:v>0.39712918660287083</c:v>
                </c:pt>
                <c:pt idx="1">
                  <c:v>0.36363636363636365</c:v>
                </c:pt>
                <c:pt idx="2">
                  <c:v>0.22222222222222221</c:v>
                </c:pt>
                <c:pt idx="3">
                  <c:v>0.2</c:v>
                </c:pt>
                <c:pt idx="4">
                  <c:v>0.16129032258064516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CE-41F7-89F1-DDD909B066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1986543920"/>
        <c:axId val="1986540080"/>
      </c:barChart>
      <c:catAx>
        <c:axId val="19865439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986540080"/>
        <c:crosses val="autoZero"/>
        <c:auto val="1"/>
        <c:lblAlgn val="ctr"/>
        <c:lblOffset val="100"/>
        <c:noMultiLvlLbl val="0"/>
      </c:catAx>
      <c:valAx>
        <c:axId val="1986540080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1986543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[HR_Analytics_Dashboard.xlsx]PT2_TerminationTrend!PivotTable3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400" b="1" i="0" u="none" strike="noStrike" baseline="0">
                <a:solidFill>
                  <a:srgbClr val="1F3A6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Employee Terminations by Year</a:t>
            </a:r>
            <a:endParaRPr lang="en-US" sz="1400" b="1" i="0" u="none" strike="noStrike" kern="1200" spc="0" baseline="0">
              <a:solidFill>
                <a:srgbClr val="1F3A6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rnd">
            <a:solidFill>
              <a:srgbClr val="277396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38100" cap="rnd">
            <a:solidFill>
              <a:srgbClr val="277396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2"/>
        <c:spPr>
          <a:solidFill>
            <a:schemeClr val="accent1"/>
          </a:solidFill>
          <a:ln w="38100" cap="rnd">
            <a:solidFill>
              <a:srgbClr val="277396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38100" cap="rnd">
            <a:solidFill>
              <a:srgbClr val="277396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4"/>
        <c:spPr>
          <a:solidFill>
            <a:schemeClr val="accent1"/>
          </a:solidFill>
          <a:ln w="38100" cap="rnd">
            <a:solidFill>
              <a:srgbClr val="277396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rnd">
            <a:solidFill>
              <a:srgbClr val="277396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9525">
              <a:solidFill>
                <a:schemeClr val="accent1"/>
              </a:solidFill>
            </a:ln>
            <a:effectLst/>
          </c:spPr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PT2_TerminationTrend!$B$3</c:f>
              <c:strCache>
                <c:ptCount val="1"/>
                <c:pt idx="0">
                  <c:v>Total</c:v>
                </c:pt>
              </c:strCache>
            </c:strRef>
          </c:tx>
          <c:spPr>
            <a:ln w="38100" cap="rnd">
              <a:solidFill>
                <a:srgbClr val="277396"/>
              </a:solidFill>
              <a:round/>
            </a:ln>
            <a:effectLst/>
          </c:spPr>
          <c:marker>
            <c:symbol val="none"/>
          </c:marker>
          <c:dPt>
            <c:idx val="5"/>
            <c:marker>
              <c:symbol val="circle"/>
              <c:size val="5"/>
              <c:spPr>
                <a:solidFill>
                  <a:srgbClr val="C00000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945-4919-B901-57900A748F8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PT2_TerminationTrend!$A$4:$A$13</c:f>
              <c:strCache>
                <c:ptCount val="9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</c:strCache>
            </c:strRef>
          </c:cat>
          <c:val>
            <c:numRef>
              <c:f>PT2_TerminationTrend!$B$4:$B$13</c:f>
              <c:numCache>
                <c:formatCode>General</c:formatCode>
                <c:ptCount val="9"/>
                <c:pt idx="0">
                  <c:v>1</c:v>
                </c:pt>
                <c:pt idx="1">
                  <c:v>3</c:v>
                </c:pt>
                <c:pt idx="2">
                  <c:v>8</c:v>
                </c:pt>
                <c:pt idx="3">
                  <c:v>13</c:v>
                </c:pt>
                <c:pt idx="4">
                  <c:v>13</c:v>
                </c:pt>
                <c:pt idx="5">
                  <c:v>23</c:v>
                </c:pt>
                <c:pt idx="6">
                  <c:v>22</c:v>
                </c:pt>
                <c:pt idx="7">
                  <c:v>8</c:v>
                </c:pt>
                <c:pt idx="8">
                  <c:v>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45-4919-B901-57900A748F8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507589632"/>
        <c:axId val="507590112"/>
      </c:lineChart>
      <c:catAx>
        <c:axId val="507589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507590112"/>
        <c:crosses val="autoZero"/>
        <c:auto val="1"/>
        <c:lblAlgn val="ctr"/>
        <c:lblOffset val="100"/>
        <c:noMultiLvlLbl val="0"/>
      </c:catAx>
      <c:valAx>
        <c:axId val="50759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07589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[HR_Analytics_Dashboard.xlsx]PT3_TenureByPerformance!PivotTable4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1F3A6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400" b="1" i="0" u="none" strike="noStrike" baseline="0">
                <a:solidFill>
                  <a:srgbClr val="1F3A6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Average Employee Tenure by Performance Rating</a:t>
            </a:r>
            <a:endParaRPr lang="en-US" sz="1400" b="1" i="0" u="none" strike="noStrike" kern="1200" spc="0" baseline="0">
              <a:solidFill>
                <a:srgbClr val="1F3A6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1F3A64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27739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27739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27739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PT3_TenureByPerformance!$B$3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7739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PT3_TenureByPerformance!$A$4:$A$8</c:f>
              <c:strCache>
                <c:ptCount val="4"/>
                <c:pt idx="0">
                  <c:v>Exceeds</c:v>
                </c:pt>
                <c:pt idx="1">
                  <c:v>Fully Meets</c:v>
                </c:pt>
                <c:pt idx="2">
                  <c:v>Needs Improvement</c:v>
                </c:pt>
                <c:pt idx="3">
                  <c:v>PIP</c:v>
                </c:pt>
              </c:strCache>
            </c:strRef>
          </c:cat>
          <c:val>
            <c:numRef>
              <c:f>PT3_TenureByPerformance!$B$4:$B$8</c:f>
              <c:numCache>
                <c:formatCode>0.0</c:formatCode>
                <c:ptCount val="4"/>
                <c:pt idx="0">
                  <c:v>6.1621621621621623</c:v>
                </c:pt>
                <c:pt idx="1">
                  <c:v>5.2345679012345681</c:v>
                </c:pt>
                <c:pt idx="2">
                  <c:v>5.2222222222222223</c:v>
                </c:pt>
                <c:pt idx="3">
                  <c:v>4.9230769230769234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33-4586-BEB0-E68B65AA6E0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27"/>
        <c:axId val="484812288"/>
        <c:axId val="484807968"/>
      </c:barChart>
      <c:catAx>
        <c:axId val="484812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484807968"/>
        <c:crosses val="autoZero"/>
        <c:auto val="1"/>
        <c:lblAlgn val="ctr"/>
        <c:lblOffset val="100"/>
        <c:noMultiLvlLbl val="0"/>
      </c:catAx>
      <c:valAx>
        <c:axId val="484807968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484812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[HR_Analytics_Dashboard.xlsx] PT4_RecruitmentSource!PivotTable5</c:name>
    <c:fmtId val="3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1F3A6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b="1">
                <a:solidFill>
                  <a:srgbClr val="1F3A64"/>
                </a:solidFill>
              </a:rPr>
              <a:t>Recruitment Sources: Hires and Performance Ratings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1F3A64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1F3A6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21678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bg2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2">
              <a:lumMod val="9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1F3A6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21678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bg2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bg2">
              <a:lumMod val="9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1F3A6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21678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bg2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bg2">
              <a:lumMod val="9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2.4096385542168676E-2"/>
          <c:y val="0.25178010471204187"/>
          <c:w val="0.95180722891566261"/>
          <c:h val="0.305657748278847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 PT4_RecruitmentSource'!$B$3:$B$4</c:f>
              <c:strCache>
                <c:ptCount val="1"/>
                <c:pt idx="0">
                  <c:v>Exceeds</c:v>
                </c:pt>
              </c:strCache>
            </c:strRef>
          </c:tx>
          <c:spPr>
            <a:solidFill>
              <a:srgbClr val="1F3A6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 PT4_RecruitmentSource'!$A$5:$A$14</c:f>
              <c:strCache>
                <c:ptCount val="9"/>
                <c:pt idx="0">
                  <c:v>Indeed</c:v>
                </c:pt>
                <c:pt idx="1">
                  <c:v>Linkedin</c:v>
                </c:pt>
                <c:pt idx="2">
                  <c:v>Google Search</c:v>
                </c:pt>
                <c:pt idx="3">
                  <c:v>Employee Ref</c:v>
                </c:pt>
                <c:pt idx="4">
                  <c:v>Diversity Fair</c:v>
                </c:pt>
                <c:pt idx="5">
                  <c:v>Careerbuilder</c:v>
                </c:pt>
                <c:pt idx="6">
                  <c:v>Website</c:v>
                </c:pt>
                <c:pt idx="7">
                  <c:v>Other</c:v>
                </c:pt>
                <c:pt idx="8">
                  <c:v>On-Line Web</c:v>
                </c:pt>
              </c:strCache>
            </c:strRef>
          </c:cat>
          <c:val>
            <c:numRef>
              <c:f>' PT4_RecruitmentSource'!$B$5:$B$14</c:f>
              <c:numCache>
                <c:formatCode>General</c:formatCode>
                <c:ptCount val="9"/>
                <c:pt idx="0">
                  <c:v>12</c:v>
                </c:pt>
                <c:pt idx="1">
                  <c:v>9</c:v>
                </c:pt>
                <c:pt idx="2">
                  <c:v>2</c:v>
                </c:pt>
                <c:pt idx="3">
                  <c:v>5</c:v>
                </c:pt>
                <c:pt idx="4">
                  <c:v>6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4E-4E87-9C55-5AB08852E4AC}"/>
            </c:ext>
          </c:extLst>
        </c:ser>
        <c:ser>
          <c:idx val="1"/>
          <c:order val="1"/>
          <c:tx>
            <c:strRef>
              <c:f>' PT4_RecruitmentSource'!$C$3:$C$4</c:f>
              <c:strCache>
                <c:ptCount val="1"/>
                <c:pt idx="0">
                  <c:v>Fully Meets</c:v>
                </c:pt>
              </c:strCache>
            </c:strRef>
          </c:tx>
          <c:spPr>
            <a:solidFill>
              <a:srgbClr val="21678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 PT4_RecruitmentSource'!$A$5:$A$14</c:f>
              <c:strCache>
                <c:ptCount val="9"/>
                <c:pt idx="0">
                  <c:v>Indeed</c:v>
                </c:pt>
                <c:pt idx="1">
                  <c:v>Linkedin</c:v>
                </c:pt>
                <c:pt idx="2">
                  <c:v>Google Search</c:v>
                </c:pt>
                <c:pt idx="3">
                  <c:v>Employee Ref</c:v>
                </c:pt>
                <c:pt idx="4">
                  <c:v>Diversity Fair</c:v>
                </c:pt>
                <c:pt idx="5">
                  <c:v>Careerbuilder</c:v>
                </c:pt>
                <c:pt idx="6">
                  <c:v>Website</c:v>
                </c:pt>
                <c:pt idx="7">
                  <c:v>Other</c:v>
                </c:pt>
                <c:pt idx="8">
                  <c:v>On-Line Web</c:v>
                </c:pt>
              </c:strCache>
            </c:strRef>
          </c:cat>
          <c:val>
            <c:numRef>
              <c:f>' PT4_RecruitmentSource'!$C$5:$C$14</c:f>
              <c:numCache>
                <c:formatCode>General</c:formatCode>
                <c:ptCount val="9"/>
                <c:pt idx="0">
                  <c:v>66</c:v>
                </c:pt>
                <c:pt idx="1">
                  <c:v>61</c:v>
                </c:pt>
                <c:pt idx="2">
                  <c:v>43</c:v>
                </c:pt>
                <c:pt idx="3">
                  <c:v>25</c:v>
                </c:pt>
                <c:pt idx="4">
                  <c:v>18</c:v>
                </c:pt>
                <c:pt idx="5">
                  <c:v>17</c:v>
                </c:pt>
                <c:pt idx="6">
                  <c:v>10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4E-4E87-9C55-5AB08852E4AC}"/>
            </c:ext>
          </c:extLst>
        </c:ser>
        <c:ser>
          <c:idx val="2"/>
          <c:order val="2"/>
          <c:tx>
            <c:strRef>
              <c:f>' PT4_RecruitmentSource'!$D$3:$D$4</c:f>
              <c:strCache>
                <c:ptCount val="1"/>
                <c:pt idx="0">
                  <c:v>Needs Improvement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 PT4_RecruitmentSource'!$A$5:$A$14</c:f>
              <c:strCache>
                <c:ptCount val="9"/>
                <c:pt idx="0">
                  <c:v>Indeed</c:v>
                </c:pt>
                <c:pt idx="1">
                  <c:v>Linkedin</c:v>
                </c:pt>
                <c:pt idx="2">
                  <c:v>Google Search</c:v>
                </c:pt>
                <c:pt idx="3">
                  <c:v>Employee Ref</c:v>
                </c:pt>
                <c:pt idx="4">
                  <c:v>Diversity Fair</c:v>
                </c:pt>
                <c:pt idx="5">
                  <c:v>Careerbuilder</c:v>
                </c:pt>
                <c:pt idx="6">
                  <c:v>Website</c:v>
                </c:pt>
                <c:pt idx="7">
                  <c:v>Other</c:v>
                </c:pt>
                <c:pt idx="8">
                  <c:v>On-Line Web</c:v>
                </c:pt>
              </c:strCache>
            </c:strRef>
          </c:cat>
          <c:val>
            <c:numRef>
              <c:f>' PT4_RecruitmentSource'!$D$5:$D$14</c:f>
              <c:numCache>
                <c:formatCode>General</c:formatCode>
                <c:ptCount val="9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4E-4E87-9C55-5AB08852E4AC}"/>
            </c:ext>
          </c:extLst>
        </c:ser>
        <c:ser>
          <c:idx val="3"/>
          <c:order val="3"/>
          <c:tx>
            <c:strRef>
              <c:f>' PT4_RecruitmentSource'!$E$3:$E$4</c:f>
              <c:strCache>
                <c:ptCount val="1"/>
                <c:pt idx="0">
                  <c:v>PIP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 PT4_RecruitmentSource'!$A$5:$A$14</c:f>
              <c:strCache>
                <c:ptCount val="9"/>
                <c:pt idx="0">
                  <c:v>Indeed</c:v>
                </c:pt>
                <c:pt idx="1">
                  <c:v>Linkedin</c:v>
                </c:pt>
                <c:pt idx="2">
                  <c:v>Google Search</c:v>
                </c:pt>
                <c:pt idx="3">
                  <c:v>Employee Ref</c:v>
                </c:pt>
                <c:pt idx="4">
                  <c:v>Diversity Fair</c:v>
                </c:pt>
                <c:pt idx="5">
                  <c:v>Careerbuilder</c:v>
                </c:pt>
                <c:pt idx="6">
                  <c:v>Website</c:v>
                </c:pt>
                <c:pt idx="7">
                  <c:v>Other</c:v>
                </c:pt>
                <c:pt idx="8">
                  <c:v>On-Line Web</c:v>
                </c:pt>
              </c:strCache>
            </c:strRef>
          </c:cat>
          <c:val>
            <c:numRef>
              <c:f>' PT4_RecruitmentSource'!$E$5:$E$14</c:f>
              <c:numCache>
                <c:formatCode>General</c:formatCode>
                <c:ptCount val="9"/>
                <c:pt idx="0">
                  <c:v>5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14E-4E87-9C55-5AB08852E4A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27"/>
        <c:axId val="1935222656"/>
        <c:axId val="1935226976"/>
      </c:barChart>
      <c:catAx>
        <c:axId val="1935222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935226976"/>
        <c:crosses val="autoZero"/>
        <c:auto val="1"/>
        <c:lblAlgn val="ctr"/>
        <c:lblOffset val="100"/>
        <c:noMultiLvlLbl val="0"/>
      </c:catAx>
      <c:valAx>
        <c:axId val="19352269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35222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[HR_Analytics_Dashboard.xlsx]PT6_AgeGroupEngagement!PivotTable8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400" b="1" i="0" u="none" strike="noStrike" baseline="0">
                <a:solidFill>
                  <a:srgbClr val="1F3A6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Employee Engagement and Satisfaction by Department</a:t>
            </a:r>
            <a:endParaRPr lang="en-US" b="1">
              <a:solidFill>
                <a:srgbClr val="1F3A6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27739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1F3A6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27739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1F3A6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27739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1F3A6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PT6_AgeGroupEngagement!$B$18</c:f>
              <c:strCache>
                <c:ptCount val="1"/>
                <c:pt idx="0">
                  <c:v>Average of EngagementSurvey</c:v>
                </c:pt>
              </c:strCache>
            </c:strRef>
          </c:tx>
          <c:spPr>
            <a:solidFill>
              <a:srgbClr val="27739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PT6_AgeGroupEngagement!$A$19:$A$25</c:f>
              <c:strCache>
                <c:ptCount val="6"/>
                <c:pt idx="0">
                  <c:v>Admin Offices</c:v>
                </c:pt>
                <c:pt idx="1">
                  <c:v>Executive Office</c:v>
                </c:pt>
                <c:pt idx="2">
                  <c:v>It/Is</c:v>
                </c:pt>
                <c:pt idx="3">
                  <c:v>Production</c:v>
                </c:pt>
                <c:pt idx="4">
                  <c:v>Sales</c:v>
                </c:pt>
                <c:pt idx="5">
                  <c:v>Software Engineering</c:v>
                </c:pt>
              </c:strCache>
            </c:strRef>
          </c:cat>
          <c:val>
            <c:numRef>
              <c:f>PT6_AgeGroupEngagement!$B$19:$B$25</c:f>
              <c:numCache>
                <c:formatCode>0.0</c:formatCode>
                <c:ptCount val="6"/>
                <c:pt idx="0">
                  <c:v>4.3933333333333335</c:v>
                </c:pt>
                <c:pt idx="1">
                  <c:v>4.83</c:v>
                </c:pt>
                <c:pt idx="2">
                  <c:v>4.1539999999999999</c:v>
                </c:pt>
                <c:pt idx="3">
                  <c:v>4.129569377990431</c:v>
                </c:pt>
                <c:pt idx="4">
                  <c:v>3.818709677419355</c:v>
                </c:pt>
                <c:pt idx="5">
                  <c:v>4.0618181818181824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BA-4624-895B-B80AC75BB236}"/>
            </c:ext>
          </c:extLst>
        </c:ser>
        <c:ser>
          <c:idx val="1"/>
          <c:order val="1"/>
          <c:tx>
            <c:strRef>
              <c:f>PT6_AgeGroupEngagement!$C$18</c:f>
              <c:strCache>
                <c:ptCount val="1"/>
                <c:pt idx="0">
                  <c:v>Average of EmpSatisfaction</c:v>
                </c:pt>
              </c:strCache>
            </c:strRef>
          </c:tx>
          <c:spPr>
            <a:solidFill>
              <a:srgbClr val="1F3A6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PT6_AgeGroupEngagement!$A$19:$A$25</c:f>
              <c:strCache>
                <c:ptCount val="6"/>
                <c:pt idx="0">
                  <c:v>Admin Offices</c:v>
                </c:pt>
                <c:pt idx="1">
                  <c:v>Executive Office</c:v>
                </c:pt>
                <c:pt idx="2">
                  <c:v>It/Is</c:v>
                </c:pt>
                <c:pt idx="3">
                  <c:v>Production</c:v>
                </c:pt>
                <c:pt idx="4">
                  <c:v>Sales</c:v>
                </c:pt>
                <c:pt idx="5">
                  <c:v>Software Engineering</c:v>
                </c:pt>
              </c:strCache>
            </c:strRef>
          </c:cat>
          <c:val>
            <c:numRef>
              <c:f>PT6_AgeGroupEngagement!$C$19:$C$25</c:f>
              <c:numCache>
                <c:formatCode>0.0</c:formatCode>
                <c:ptCount val="6"/>
                <c:pt idx="0">
                  <c:v>3.5555555555555554</c:v>
                </c:pt>
                <c:pt idx="1">
                  <c:v>3</c:v>
                </c:pt>
                <c:pt idx="2">
                  <c:v>3.96</c:v>
                </c:pt>
                <c:pt idx="3">
                  <c:v>3.861244019138756</c:v>
                </c:pt>
                <c:pt idx="4">
                  <c:v>4.032258064516129</c:v>
                </c:pt>
                <c:pt idx="5">
                  <c:v>4.0909090909090908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BA-4624-895B-B80AC75BB23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19064063"/>
        <c:axId val="619058783"/>
      </c:barChart>
      <c:catAx>
        <c:axId val="619064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619058783"/>
        <c:crosses val="autoZero"/>
        <c:auto val="1"/>
        <c:lblAlgn val="ctr"/>
        <c:lblOffset val="100"/>
        <c:noMultiLvlLbl val="0"/>
      </c:catAx>
      <c:valAx>
        <c:axId val="619058783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619064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[HR_Analytics_Dashboard.xlsx]PT5_SalaryByGender!PivotTable6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400" b="1" i="0" u="none" strike="noStrike" kern="1200" spc="0" baseline="0">
                <a:solidFill>
                  <a:srgbClr val="1F3A6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Average Salary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1F3A6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277396"/>
          </a:solidFill>
          <a:ln>
            <a:noFill/>
          </a:ln>
          <a:effectLst/>
        </c:spPr>
      </c:pivotFmt>
      <c:pivotFmt>
        <c:idx val="2"/>
        <c:spPr>
          <a:solidFill>
            <a:srgbClr val="216788"/>
          </a:solidFill>
          <a:ln>
            <a:noFill/>
          </a:ln>
          <a:effectLst/>
        </c:spPr>
      </c:pivotFmt>
      <c:pivotFmt>
        <c:idx val="3"/>
        <c:spPr>
          <a:solidFill>
            <a:srgbClr val="1F3A6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277396"/>
          </a:solidFill>
          <a:ln>
            <a:noFill/>
          </a:ln>
          <a:effectLst/>
        </c:spPr>
      </c:pivotFmt>
      <c:pivotFmt>
        <c:idx val="5"/>
        <c:spPr>
          <a:solidFill>
            <a:srgbClr val="216788"/>
          </a:solidFill>
          <a:ln>
            <a:noFill/>
          </a:ln>
          <a:effectLst/>
        </c:spPr>
      </c:pivotFmt>
      <c:pivotFmt>
        <c:idx val="6"/>
        <c:spPr>
          <a:solidFill>
            <a:srgbClr val="1F3A6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277396"/>
          </a:solidFill>
          <a:ln>
            <a:noFill/>
          </a:ln>
          <a:effectLst/>
        </c:spPr>
      </c:pivotFmt>
      <c:pivotFmt>
        <c:idx val="8"/>
        <c:spPr>
          <a:solidFill>
            <a:srgbClr val="216788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PT5_SalaryByGender!$B$3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3A6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7739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AF-4CF0-8486-5350476BF35E}"/>
              </c:ext>
            </c:extLst>
          </c:dPt>
          <c:dPt>
            <c:idx val="1"/>
            <c:invertIfNegative val="0"/>
            <c:bubble3D val="0"/>
            <c:spPr>
              <a:solidFill>
                <a:srgbClr val="2167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BAF-4CF0-8486-5350476BF35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PT5_SalaryByGender!$A$4:$A$6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PT5_SalaryByGender!$B$4:$B$6</c:f>
              <c:numCache>
                <c:formatCode>"$"#,##0</c:formatCode>
                <c:ptCount val="2"/>
                <c:pt idx="0">
                  <c:v>67786.727272727279</c:v>
                </c:pt>
                <c:pt idx="1">
                  <c:v>70629.399999999994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BAF-4CF0-8486-5350476BF3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392622992"/>
        <c:axId val="1392606672"/>
      </c:barChart>
      <c:catAx>
        <c:axId val="1392622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392606672"/>
        <c:crosses val="autoZero"/>
        <c:auto val="1"/>
        <c:lblAlgn val="ctr"/>
        <c:lblOffset val="100"/>
        <c:noMultiLvlLbl val="0"/>
      </c:catAx>
      <c:valAx>
        <c:axId val="1392606672"/>
        <c:scaling>
          <c:orientation val="minMax"/>
        </c:scaling>
        <c:delete val="1"/>
        <c:axPos val="l"/>
        <c:numFmt formatCode="&quot;$&quot;#,##0" sourceLinked="1"/>
        <c:majorTickMark val="none"/>
        <c:minorTickMark val="none"/>
        <c:tickLblPos val="nextTo"/>
        <c:crossAx val="1392622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2EF30-0FE4-706C-C47C-D336D6B49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CA7356-FE6E-D0ED-4B7E-ABF9AFD6F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69538-3784-F827-E5F5-9DD28D3C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59FC-43DE-49C5-A511-024D1869262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4D23D-0758-030B-3120-DF91CC13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B3151-C826-3843-0D2E-CA7A72D9C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E3B37-6F1F-42CF-A116-05C591C1F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3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9EF70-9023-B27C-E42E-570CBECD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1A794-D43F-E80C-CE9D-EE9510E16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D2E5F-8EF7-7ED7-70D2-8E6D42D3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59FC-43DE-49C5-A511-024D1869262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58A62-F3C2-B6A3-A585-D6B244413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FE1C9-9137-A6F7-2EED-6E91215D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E3B37-6F1F-42CF-A116-05C591C1F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8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9B076-FC42-E228-B734-3876A27EB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5EBF2-5A00-8321-653B-587857177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2F3E1-6EEB-E996-4930-6F3D9ED73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59FC-43DE-49C5-A511-024D1869262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2E29A-7188-275E-2E11-DF49D6412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B5D3B-1F50-133A-E15F-DA4A95C6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E3B37-6F1F-42CF-A116-05C591C1F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64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E772-6E4E-A4B4-0D9D-6AB056386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13556-77CE-D16D-E876-A2E1C28A1F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72AFE-97B2-A03D-027F-20E795FD3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41F4F-9A02-E730-DA11-358EE4DDC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59FC-43DE-49C5-A511-024D1869262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259E5-E2F2-8602-AEB7-F971A1854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AEC0B-21EB-7E1D-069B-C54DEC302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E3B37-6F1F-42CF-A116-05C591C1F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59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A45BE-B11F-9FD8-27B3-580392417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06A27-2637-B156-A68F-366352639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9A274-36C8-5A8C-5CF4-D228DBFA3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99EBBC-2FBC-A75E-74EE-412D40C1A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6D30D3-B3C9-431D-BFCC-9954689E9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FFDE8A-F582-7A0D-23F5-5A40808E1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59FC-43DE-49C5-A511-024D1869262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DC2B41-839E-55F0-D035-2A15C2AC8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3F47A-FC29-0C38-3EAF-269A127C3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E3B37-6F1F-42CF-A116-05C591C1F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5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1896D-08A4-EC8F-4AD5-C024F29E1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21B09-6E1B-EA6C-78B9-4222C9B4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59FC-43DE-49C5-A511-024D1869262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97DDA-FBF2-F9C4-3A25-73BD5C084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27140-2BF5-3AAB-0779-58C78988C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E3B37-6F1F-42CF-A116-05C591C1F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7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4B85FB-AB13-6834-DA4B-DCD0954D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59FC-43DE-49C5-A511-024D1869262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927395-F869-61A3-97A3-2D1B57850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95067-EBFA-1FD9-1989-B6C852EF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E3B37-6F1F-42CF-A116-05C591C1F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78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A5F64-BD01-AB91-8F87-7CEFEA1DD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5D5B4-FDA6-217D-F8B2-1FFE216BE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9ABFD-F142-B220-F9A8-F75567216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847E9-3D23-F366-1B5A-6824154AF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59FC-43DE-49C5-A511-024D1869262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DD309-C297-D88A-9F9F-5386DB28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546DC-2E55-8572-F725-1F5F5D10A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E3B37-6F1F-42CF-A116-05C591C1F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41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0215-9638-6935-F185-822763CE9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81179-37D2-A6C9-9D27-54A105768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0E682-6033-40F8-00D2-9B648C957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873BF-5145-6670-5004-AC07C08E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59FC-43DE-49C5-A511-024D1869262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AE51B-66ED-C16D-A294-CFB3AE568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BCC92-6856-8AF3-5C7E-BB4BA653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E3B37-6F1F-42CF-A116-05C591C1F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32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B7F57-EBBF-5316-9547-2C0DD3A86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E7556-B569-D3A3-5533-C090734E8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BBA93-BC61-41CC-D3B3-BFAD63CC4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59FC-43DE-49C5-A511-024D1869262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AFD03-CF54-6EAD-CEAA-150514FDC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32850-8DF3-58FC-4B16-A5132BA8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E3B37-6F1F-42CF-A116-05C591C1F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83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5E289D-2BFD-F50E-1880-78F5BAAEB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7FDD0A-F65A-524B-1C46-553D78FB0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5A837-CB0E-AC46-92FE-2C2C9E71C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59FC-43DE-49C5-A511-024D1869262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3D1EE-6C5A-F9F9-F14A-1DF64CAD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13325-1CD1-F318-7A31-2F9938A7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E3B37-6F1F-42CF-A116-05C591C1F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5F1418-DA0F-C32A-2D51-06DFAA7A8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98051-8869-2E4B-9159-4A57BF002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30914-7808-0798-D6DB-E66F72E13E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659FC-43DE-49C5-A511-024D1869262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BA6EE-CB1F-39FB-F9F8-34EC04C3A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0B24-4B11-6BC4-1876-DFF157FCB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BE3B37-6F1F-42CF-A116-05C591C1F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9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B893B-3D4A-A6B6-E10C-4E63EE9A3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54326"/>
          </a:xfrm>
          <a:solidFill>
            <a:srgbClr val="1F3A64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 Analytics Dashboard</a:t>
            </a: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Employee Data Analysis (2006–2019)</a:t>
            </a:r>
            <a:b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310AE-77A4-27E5-42E1-B57ABE8E413E}"/>
              </a:ext>
            </a:extLst>
          </p:cNvPr>
          <p:cNvSpPr txBox="1"/>
          <p:nvPr/>
        </p:nvSpPr>
        <p:spPr>
          <a:xfrm>
            <a:off x="7185805" y="4034563"/>
            <a:ext cx="4876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1F3A6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Prepared by:</a:t>
            </a:r>
            <a:br>
              <a:rPr lang="en-US" sz="2800" b="1" dirty="0">
                <a:solidFill>
                  <a:srgbClr val="1F3A64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dirty="0">
                <a:solidFill>
                  <a:srgbClr val="1F3A6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Ijeoma Okeke</a:t>
            </a:r>
          </a:p>
          <a:p>
            <a:pPr>
              <a:buNone/>
            </a:pPr>
            <a:r>
              <a:rPr lang="en-US" sz="2800" b="1" dirty="0">
                <a:solidFill>
                  <a:srgbClr val="1F3A6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Analyst</a:t>
            </a:r>
          </a:p>
          <a:p>
            <a:pPr>
              <a:buNone/>
            </a:pPr>
            <a:r>
              <a:rPr lang="en-US" sz="2800" b="1" dirty="0">
                <a:solidFill>
                  <a:srgbClr val="1F3A6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Microsoft Excel | Power Query | PivotTables | </a:t>
            </a:r>
            <a:r>
              <a:rPr lang="en-US" sz="2800" b="1" dirty="0" err="1">
                <a:solidFill>
                  <a:srgbClr val="1F3A6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PivotCharts</a:t>
            </a:r>
            <a:r>
              <a:rPr lang="en-US" sz="2800" b="1" dirty="0">
                <a:solidFill>
                  <a:srgbClr val="1F3A6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Dashboard</a:t>
            </a:r>
          </a:p>
        </p:txBody>
      </p:sp>
    </p:spTree>
    <p:extLst>
      <p:ext uri="{BB962C8B-B14F-4D97-AF65-F5344CB8AC3E}">
        <p14:creationId xmlns:p14="http://schemas.microsoft.com/office/powerpoint/2010/main" val="63773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34485-9B81-45F1-8669-BF75D16EE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768414"/>
          </a:xfrm>
          <a:solidFill>
            <a:srgbClr val="1F3A64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Project Overview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049E5-CF39-724D-49B0-AF833CCE3132}"/>
              </a:ext>
            </a:extLst>
          </p:cNvPr>
          <p:cNvSpPr txBox="1"/>
          <p:nvPr/>
        </p:nvSpPr>
        <p:spPr>
          <a:xfrm>
            <a:off x="69011" y="1699404"/>
            <a:ext cx="1219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1F3A64"/>
                </a:solidFill>
              </a:rPr>
              <a:t>Content</a:t>
            </a:r>
          </a:p>
          <a:p>
            <a:pPr>
              <a:buNone/>
            </a:pPr>
            <a:r>
              <a:rPr lang="en-US" sz="2400" b="1" dirty="0">
                <a:solidFill>
                  <a:srgbClr val="1F3A64"/>
                </a:solidFill>
              </a:rPr>
              <a:t>Business Problem</a:t>
            </a:r>
            <a:br>
              <a:rPr lang="en-US" sz="2400" dirty="0">
                <a:solidFill>
                  <a:srgbClr val="1F3A64"/>
                </a:solidFill>
              </a:rPr>
            </a:br>
            <a:r>
              <a:rPr lang="en-US" sz="2400" dirty="0">
                <a:solidFill>
                  <a:srgbClr val="1F3A64"/>
                </a:solidFill>
              </a:rPr>
              <a:t>The HR department required an interactive reporting solution to analyze workforce trends and support data-driven decision-making using employee data from 2006–2019.</a:t>
            </a:r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rgbClr val="1F3A64"/>
                </a:solidFill>
              </a:rPr>
              <a:t>Objectives</a:t>
            </a:r>
            <a:endParaRPr lang="en-US" sz="2400" dirty="0">
              <a:solidFill>
                <a:srgbClr val="1F3A64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Clean and transform the HR dataset.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Build an interactive Excel dashboard.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Analyze workforce trends.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Answer key business questions.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Provide actionable recommendations. </a:t>
            </a:r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rgbClr val="1F3A64"/>
                </a:solidFill>
              </a:rPr>
              <a:t>Dataset Summary</a:t>
            </a:r>
            <a:endParaRPr lang="en-US" sz="2400" dirty="0">
              <a:solidFill>
                <a:srgbClr val="1F3A64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311 Employees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39 Variables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Reporting Period: 2006–2019</a:t>
            </a:r>
          </a:p>
        </p:txBody>
      </p:sp>
    </p:spTree>
    <p:extLst>
      <p:ext uri="{BB962C8B-B14F-4D97-AF65-F5344CB8AC3E}">
        <p14:creationId xmlns:p14="http://schemas.microsoft.com/office/powerpoint/2010/main" val="183856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F20AC-6C9A-55E4-3444-83206639E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764792"/>
          </a:xfrm>
          <a:solidFill>
            <a:srgbClr val="1F3A64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VISUALS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8382AD-B18D-9913-960B-D21193CED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3" y="1785669"/>
            <a:ext cx="4922277" cy="16433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6DC9CA-A5C8-2D53-70C6-AC3B63A1A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2" y="3523982"/>
            <a:ext cx="4922277" cy="1738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112D48-FE29-C43F-33AA-FE44BA42B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13" y="5370467"/>
            <a:ext cx="4922278" cy="11224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1B228B-BE0A-5C69-8EB6-F44316D43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2391" y="2000588"/>
            <a:ext cx="2417805" cy="13716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23C5DF-AE04-7405-07A9-8C57C3D7CB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8352" y="2000588"/>
            <a:ext cx="1886047" cy="20624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B593AA-B41A-6B19-C826-5FD037DD78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7843" y="2000588"/>
            <a:ext cx="2632764" cy="15737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8B3C3A-EC56-EB1B-AACD-D604228058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5739" y="3429000"/>
            <a:ext cx="2319169" cy="17007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D87F708-167A-7132-C00C-5E9845C31C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7344" y="4191464"/>
            <a:ext cx="1930499" cy="9382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C811266-1CA8-9C55-9B25-45A226A59E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2624" y="3617461"/>
            <a:ext cx="2553398" cy="15122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B3F223A-7B27-2219-B347-4BE22091B4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2392" y="5221798"/>
            <a:ext cx="4302008" cy="15585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4FF1BE8-902C-80CC-6ADD-C655CCC9A26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3055" y="5206621"/>
            <a:ext cx="2597552" cy="157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555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A505A-0ED1-76D4-17CD-B1201EA5E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764792"/>
          </a:xfrm>
          <a:solidFill>
            <a:srgbClr val="1F3A64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Data Cleaning and Preparation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C198F-8665-5C7C-9461-2F8808A61FEB}"/>
              </a:ext>
            </a:extLst>
          </p:cNvPr>
          <p:cNvSpPr txBox="1"/>
          <p:nvPr/>
        </p:nvSpPr>
        <p:spPr>
          <a:xfrm>
            <a:off x="0" y="1677443"/>
            <a:ext cx="12192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1F3A64"/>
                </a:solidFill>
              </a:rPr>
              <a:t>Content</a:t>
            </a:r>
          </a:p>
          <a:p>
            <a:pPr>
              <a:buNone/>
            </a:pPr>
            <a:r>
              <a:rPr lang="en-US" sz="2400" dirty="0">
                <a:solidFill>
                  <a:srgbClr val="1F3A64"/>
                </a:solidFill>
              </a:rPr>
              <a:t>The following data quality issues were resolved:</a:t>
            </a:r>
          </a:p>
          <a:p>
            <a:pPr>
              <a:buNone/>
            </a:pPr>
            <a:endParaRPr lang="en-US" sz="2400" dirty="0">
              <a:solidFill>
                <a:srgbClr val="1F3A64"/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rgbClr val="1F3A64"/>
                </a:solidFill>
              </a:rPr>
              <a:t>✔ Corrected employee age calculations.</a:t>
            </a:r>
          </a:p>
          <a:p>
            <a:pPr>
              <a:buNone/>
            </a:pPr>
            <a:r>
              <a:rPr lang="en-US" sz="2400" dirty="0">
                <a:solidFill>
                  <a:srgbClr val="1F3A64"/>
                </a:solidFill>
              </a:rPr>
              <a:t>✔ Corrected tenure calculations.</a:t>
            </a:r>
          </a:p>
          <a:p>
            <a:pPr>
              <a:buNone/>
            </a:pPr>
            <a:r>
              <a:rPr lang="en-US" sz="2400" dirty="0">
                <a:solidFill>
                  <a:srgbClr val="1F3A64"/>
                </a:solidFill>
              </a:rPr>
              <a:t>✔ Filled missing Manager IDs.</a:t>
            </a:r>
          </a:p>
          <a:p>
            <a:pPr>
              <a:buNone/>
            </a:pPr>
            <a:r>
              <a:rPr lang="en-US" sz="2400" dirty="0">
                <a:solidFill>
                  <a:srgbClr val="1F3A64"/>
                </a:solidFill>
              </a:rPr>
              <a:t>✔ Standardized text formatting.</a:t>
            </a:r>
          </a:p>
          <a:p>
            <a:pPr>
              <a:buNone/>
            </a:pPr>
            <a:r>
              <a:rPr lang="en-US" sz="2400" dirty="0">
                <a:solidFill>
                  <a:srgbClr val="1F3A64"/>
                </a:solidFill>
              </a:rPr>
              <a:t>✔ Corrected employment status inconsistencies.</a:t>
            </a:r>
          </a:p>
          <a:p>
            <a:pPr>
              <a:buNone/>
            </a:pPr>
            <a:r>
              <a:rPr lang="en-US" sz="2400" dirty="0">
                <a:solidFill>
                  <a:srgbClr val="1F3A64"/>
                </a:solidFill>
              </a:rPr>
              <a:t>✔ Removed termination reasons for active employees.</a:t>
            </a:r>
          </a:p>
          <a:p>
            <a:pPr>
              <a:buNone/>
            </a:pPr>
            <a:r>
              <a:rPr lang="en-US" sz="2400" dirty="0">
                <a:solidFill>
                  <a:srgbClr val="1F3A64"/>
                </a:solidFill>
              </a:rPr>
              <a:t>✔ Created helper columns: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Age Group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Termination Year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Active Employees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Turnover Rate </a:t>
            </a:r>
          </a:p>
          <a:p>
            <a:pPr>
              <a:buNone/>
            </a:pPr>
            <a:r>
              <a:rPr lang="en-US" sz="2400" dirty="0">
                <a:solidFill>
                  <a:srgbClr val="1F3A64"/>
                </a:solidFill>
              </a:rPr>
              <a:t>✔ Loaded the cleaned dataset into Excel for analysis.</a:t>
            </a:r>
          </a:p>
        </p:txBody>
      </p:sp>
    </p:spTree>
    <p:extLst>
      <p:ext uri="{BB962C8B-B14F-4D97-AF65-F5344CB8AC3E}">
        <p14:creationId xmlns:p14="http://schemas.microsoft.com/office/powerpoint/2010/main" val="154282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C7F2-1EBC-5188-2CA3-56E243B6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764792"/>
          </a:xfrm>
          <a:solidFill>
            <a:srgbClr val="1F3A64"/>
          </a:solidFill>
        </p:spPr>
        <p:txBody>
          <a:bodyPr>
            <a:normAutofit fontScale="90000"/>
          </a:bodyPr>
          <a:lstStyle/>
          <a:p>
            <a:pPr algn="ctr"/>
            <a:br>
              <a:rPr lang="en-US" sz="4900" b="1" dirty="0">
                <a:solidFill>
                  <a:schemeClr val="bg1"/>
                </a:solidFill>
              </a:rPr>
            </a:br>
            <a:r>
              <a:rPr lang="en-US" sz="4900" b="1" dirty="0">
                <a:solidFill>
                  <a:schemeClr val="bg1"/>
                </a:solidFill>
              </a:rPr>
              <a:t>Dashboard Overview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Interactive HR Analytics Dashboard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8030E3-A876-DABD-CA34-637ED13721C7}"/>
              </a:ext>
            </a:extLst>
          </p:cNvPr>
          <p:cNvSpPr txBox="1"/>
          <p:nvPr/>
        </p:nvSpPr>
        <p:spPr>
          <a:xfrm>
            <a:off x="3959230" y="5534560"/>
            <a:ext cx="40460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F3A64"/>
                </a:solidFill>
              </a:rPr>
              <a:t>Dashboard Features</a:t>
            </a:r>
            <a:endParaRPr lang="en-US" sz="1600" dirty="0">
              <a:solidFill>
                <a:srgbClr val="1F3A64"/>
              </a:solidFill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3A64"/>
                </a:solidFill>
              </a:rPr>
              <a:t>8 KPI Cards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3A64"/>
                </a:solidFill>
              </a:rPr>
              <a:t>6 </a:t>
            </a:r>
            <a:r>
              <a:rPr lang="en-US" sz="1600" dirty="0" err="1">
                <a:solidFill>
                  <a:srgbClr val="1F3A64"/>
                </a:solidFill>
              </a:rPr>
              <a:t>PivotCharts</a:t>
            </a:r>
            <a:r>
              <a:rPr lang="en-US" sz="1600" dirty="0">
                <a:solidFill>
                  <a:srgbClr val="1F3A64"/>
                </a:solidFill>
              </a:rPr>
              <a:t>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3A64"/>
                </a:solidFill>
              </a:rPr>
              <a:t>3 Interactive Slicers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3A64"/>
                </a:solidFill>
              </a:rPr>
              <a:t>Automated Filtering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77677E-FD9D-7713-23CF-6C7151CE2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682151"/>
            <a:ext cx="12192000" cy="385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29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A4795-DA6C-F2C4-BC13-00E48E430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2FB8C1-B4C8-63AB-A6E1-823D901DE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97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89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BC05-A36F-CABD-FE1D-45819B035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2192000" cy="1764792"/>
          </a:xfrm>
          <a:solidFill>
            <a:srgbClr val="1F3A64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Key Workforce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8AA8A9-CF9C-F327-EA58-F49AFD571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4812"/>
            <a:ext cx="12191999" cy="38996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C56A2C-C210-A070-4E6E-4159D8176193}"/>
              </a:ext>
            </a:extLst>
          </p:cNvPr>
          <p:cNvSpPr txBox="1"/>
          <p:nvPr/>
        </p:nvSpPr>
        <p:spPr>
          <a:xfrm>
            <a:off x="7134045" y="5934669"/>
            <a:ext cx="57775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solidFill>
                  <a:srgbClr val="1F3A64"/>
                </a:solidFill>
              </a:rPr>
              <a:t>Key Takeaway</a:t>
            </a:r>
            <a:endParaRPr lang="en-US" dirty="0">
              <a:solidFill>
                <a:srgbClr val="1F3A64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1F3A64"/>
                </a:solidFill>
              </a:rPr>
              <a:t>The organization maintained a workforce of 311 employees, with an overall turnover rate of 33.4%.</a:t>
            </a:r>
          </a:p>
        </p:txBody>
      </p:sp>
    </p:spTree>
    <p:extLst>
      <p:ext uri="{BB962C8B-B14F-4D97-AF65-F5344CB8AC3E}">
        <p14:creationId xmlns:p14="http://schemas.microsoft.com/office/powerpoint/2010/main" val="2679652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443F-F461-B5A0-920D-0DB142DD5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64792"/>
          </a:xfrm>
          <a:solidFill>
            <a:srgbClr val="1F3A64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Employee Turnover Analysis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19DE1-4F3D-912D-2E76-0AA816158106}"/>
              </a:ext>
            </a:extLst>
          </p:cNvPr>
          <p:cNvSpPr txBox="1"/>
          <p:nvPr/>
        </p:nvSpPr>
        <p:spPr>
          <a:xfrm>
            <a:off x="3516342" y="5535623"/>
            <a:ext cx="51593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1F3A64"/>
                </a:solidFill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A64"/>
                </a:solidFill>
              </a:rPr>
              <a:t>Production recorded the highest turnover (39.7%).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A64"/>
                </a:solidFill>
              </a:rPr>
              <a:t>Employee exits peaked in 2015.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A64"/>
                </a:solidFill>
              </a:rPr>
              <a:t>Turnover declined after 2016.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B31C967-97CE-7E35-59E6-74157C6E78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4440085"/>
              </p:ext>
            </p:extLst>
          </p:nvPr>
        </p:nvGraphicFramePr>
        <p:xfrm>
          <a:off x="204877" y="1936630"/>
          <a:ext cx="5891123" cy="2984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443D736-7335-86F1-F3B8-8322C3DC22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3259748"/>
              </p:ext>
            </p:extLst>
          </p:nvPr>
        </p:nvGraphicFramePr>
        <p:xfrm>
          <a:off x="6098387" y="1936630"/>
          <a:ext cx="5888736" cy="2980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28847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C27A-6F5A-3671-4BEC-49EB98F16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759788"/>
          </a:xfrm>
          <a:solidFill>
            <a:srgbClr val="1F3A64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Recruitment Effectiveness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30B1FD-3CBF-9A70-A6FC-1B594F1064B3}"/>
              </a:ext>
            </a:extLst>
          </p:cNvPr>
          <p:cNvSpPr txBox="1"/>
          <p:nvPr/>
        </p:nvSpPr>
        <p:spPr>
          <a:xfrm>
            <a:off x="3139905" y="5103673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1F3A64"/>
                </a:solidFill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A64"/>
                </a:solidFill>
              </a:rPr>
              <a:t>Indeed generated the highest number of hires (87).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A64"/>
                </a:solidFill>
              </a:rPr>
              <a:t>Indeed also produced the largest number of high-performing employees.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A64"/>
                </a:solidFill>
              </a:rPr>
              <a:t>Employees rated "Exceeds Expectations" had the longest average tenure (6.2 years). 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4BE4E6D-D0CA-581B-E022-02EB75A14D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2337513"/>
              </p:ext>
            </p:extLst>
          </p:nvPr>
        </p:nvGraphicFramePr>
        <p:xfrm>
          <a:off x="6096000" y="1875422"/>
          <a:ext cx="5888736" cy="2980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2B87BC3-993D-670F-6F41-2B27A34A7D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6537499"/>
              </p:ext>
            </p:extLst>
          </p:nvPr>
        </p:nvGraphicFramePr>
        <p:xfrm>
          <a:off x="207264" y="2007096"/>
          <a:ext cx="5888736" cy="3008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17935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236F-A321-339A-C954-61EBD03E4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rgbClr val="1F3A64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Compensation and Employee Experience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990B5-7B45-1865-CCF1-853B3256F5BE}"/>
              </a:ext>
            </a:extLst>
          </p:cNvPr>
          <p:cNvSpPr txBox="1"/>
          <p:nvPr/>
        </p:nvSpPr>
        <p:spPr>
          <a:xfrm>
            <a:off x="3048719" y="5167311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1F3A64"/>
                </a:solidFill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A64"/>
                </a:solidFill>
              </a:rPr>
              <a:t>Male employees earned an average salary of $70,629.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A64"/>
                </a:solidFill>
              </a:rPr>
              <a:t>Female employees earned an average salary of $67,787.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A64"/>
                </a:solidFill>
              </a:rPr>
              <a:t>Executive Office recorded the highest engagement score.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A64"/>
                </a:solidFill>
              </a:rPr>
              <a:t>Software Engineering recorded the highest employee satisfaction. 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C7881B6-4ACE-3B15-A3CE-FBD437DF22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9173703"/>
              </p:ext>
            </p:extLst>
          </p:nvPr>
        </p:nvGraphicFramePr>
        <p:xfrm>
          <a:off x="5837208" y="1938528"/>
          <a:ext cx="5888736" cy="2980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CE0A945-98DA-FB38-D689-97A18A42D0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2070376"/>
              </p:ext>
            </p:extLst>
          </p:nvPr>
        </p:nvGraphicFramePr>
        <p:xfrm>
          <a:off x="104351" y="1938528"/>
          <a:ext cx="5888736" cy="2980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50213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1DE1-5A42-5B1D-F702-B07EFF5C2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64792"/>
          </a:xfrm>
          <a:solidFill>
            <a:srgbClr val="1F3A64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Strategic Recommendations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61460-640F-CA68-7768-6360C96C79ED}"/>
              </a:ext>
            </a:extLst>
          </p:cNvPr>
          <p:cNvSpPr txBox="1"/>
          <p:nvPr/>
        </p:nvSpPr>
        <p:spPr>
          <a:xfrm>
            <a:off x="0" y="1779687"/>
            <a:ext cx="1185269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A64"/>
                </a:solidFill>
              </a:rPr>
              <a:t>             Improve retention strategies in the Production department.</a:t>
            </a:r>
          </a:p>
          <a:p>
            <a:r>
              <a:rPr lang="en-US" sz="2000" dirty="0">
                <a:solidFill>
                  <a:srgbClr val="1F3A64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A64"/>
                </a:solidFill>
              </a:rPr>
              <a:t>             Investigate early turnover within the IT/IS department. </a:t>
            </a:r>
          </a:p>
          <a:p>
            <a:endParaRPr lang="en-US" sz="2000" dirty="0">
              <a:solidFill>
                <a:srgbClr val="1F3A64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A64"/>
                </a:solidFill>
              </a:rPr>
              <a:t>             Prioritize recruitment through Indeed and LinkedIn. </a:t>
            </a:r>
          </a:p>
          <a:p>
            <a:endParaRPr lang="en-US" sz="2000" dirty="0">
              <a:solidFill>
                <a:srgbClr val="1F3A64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A64"/>
                </a:solidFill>
              </a:rPr>
              <a:t>             Conduct regular salary equity reviews. </a:t>
            </a:r>
          </a:p>
          <a:p>
            <a:endParaRPr lang="en-US" sz="2000" dirty="0">
              <a:solidFill>
                <a:srgbClr val="1F3A64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A64"/>
                </a:solidFill>
              </a:rPr>
              <a:t>             Expand employee engagement initiatives across departments.</a:t>
            </a:r>
          </a:p>
          <a:p>
            <a:r>
              <a:rPr lang="en-US" sz="2000" dirty="0">
                <a:solidFill>
                  <a:srgbClr val="1F3A64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A64"/>
                </a:solidFill>
              </a:rPr>
              <a:t>             Strengthen career development and recognition programs. </a:t>
            </a:r>
          </a:p>
          <a:p>
            <a:endParaRPr lang="en-US" sz="2000" dirty="0">
              <a:solidFill>
                <a:srgbClr val="1F3A64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A64"/>
                </a:solidFill>
              </a:rPr>
              <a:t>             Improve succession planning for experienced employees. </a:t>
            </a:r>
          </a:p>
          <a:p>
            <a:endParaRPr lang="en-US" sz="2000" dirty="0">
              <a:solidFill>
                <a:srgbClr val="1F3A64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A64"/>
                </a:solidFill>
              </a:rPr>
              <a:t>            Continue monitoring workforce performance using the interactive dashboard</a:t>
            </a:r>
            <a:r>
              <a:rPr lang="en-US" dirty="0">
                <a:solidFill>
                  <a:srgbClr val="1F3A64"/>
                </a:solidFill>
              </a:rPr>
              <a:t>.</a:t>
            </a:r>
          </a:p>
        </p:txBody>
      </p:sp>
      <p:pic>
        <p:nvPicPr>
          <p:cNvPr id="6" name="Graphic 5" descr="Group of People">
            <a:extLst>
              <a:ext uri="{FF2B5EF4-FFF2-40B4-BE49-F238E27FC236}">
                <a16:creationId xmlns:a16="http://schemas.microsoft.com/office/drawing/2014/main" id="{888E5487-F58B-20C6-0536-466751473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015" y="2101968"/>
            <a:ext cx="466344" cy="466344"/>
          </a:xfrm>
          <a:prstGeom prst="rect">
            <a:avLst/>
          </a:prstGeom>
        </p:spPr>
      </p:pic>
      <p:pic>
        <p:nvPicPr>
          <p:cNvPr id="8" name="Graphic 7" descr="Bug under magnifying glass with solid fill">
            <a:extLst>
              <a:ext uri="{FF2B5EF4-FFF2-40B4-BE49-F238E27FC236}">
                <a16:creationId xmlns:a16="http://schemas.microsoft.com/office/drawing/2014/main" id="{07E8FA0C-3E7A-8318-91BD-DBA487C807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097" y="2692129"/>
            <a:ext cx="520460" cy="520460"/>
          </a:xfrm>
          <a:prstGeom prst="rect">
            <a:avLst/>
          </a:prstGeom>
        </p:spPr>
      </p:pic>
      <p:pic>
        <p:nvPicPr>
          <p:cNvPr id="10" name="Graphic 9" descr="Bullseye with solid fill">
            <a:extLst>
              <a:ext uri="{FF2B5EF4-FFF2-40B4-BE49-F238E27FC236}">
                <a16:creationId xmlns:a16="http://schemas.microsoft.com/office/drawing/2014/main" id="{85F90CC3-2EBB-E638-33ED-D1F75AB22E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8769" y="3336406"/>
            <a:ext cx="466344" cy="466344"/>
          </a:xfrm>
          <a:prstGeom prst="rect">
            <a:avLst/>
          </a:prstGeom>
        </p:spPr>
      </p:pic>
      <p:pic>
        <p:nvPicPr>
          <p:cNvPr id="12" name="Graphic 11" descr="Coins outline">
            <a:extLst>
              <a:ext uri="{FF2B5EF4-FFF2-40B4-BE49-F238E27FC236}">
                <a16:creationId xmlns:a16="http://schemas.microsoft.com/office/drawing/2014/main" id="{447D1A52-62C7-1A69-57BA-E335A36750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8295" y="3926567"/>
            <a:ext cx="466344" cy="466344"/>
          </a:xfrm>
          <a:prstGeom prst="rect">
            <a:avLst/>
          </a:prstGeom>
        </p:spPr>
      </p:pic>
      <p:pic>
        <p:nvPicPr>
          <p:cNvPr id="14" name="Graphic 13" descr="Handshake with solid fill">
            <a:extLst>
              <a:ext uri="{FF2B5EF4-FFF2-40B4-BE49-F238E27FC236}">
                <a16:creationId xmlns:a16="http://schemas.microsoft.com/office/drawing/2014/main" id="{16707968-4C1B-C11F-9DB5-B4040800D6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5687" y="4516728"/>
            <a:ext cx="466344" cy="466344"/>
          </a:xfrm>
          <a:prstGeom prst="rect">
            <a:avLst/>
          </a:prstGeom>
        </p:spPr>
      </p:pic>
      <p:pic>
        <p:nvPicPr>
          <p:cNvPr id="16" name="Graphic 15" descr="Business Growth with solid fill">
            <a:extLst>
              <a:ext uri="{FF2B5EF4-FFF2-40B4-BE49-F238E27FC236}">
                <a16:creationId xmlns:a16="http://schemas.microsoft.com/office/drawing/2014/main" id="{29714B05-4FE2-C606-6B1C-E1A6474825B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1374" y="5106889"/>
            <a:ext cx="466344" cy="466344"/>
          </a:xfrm>
          <a:prstGeom prst="rect">
            <a:avLst/>
          </a:prstGeom>
        </p:spPr>
      </p:pic>
      <p:pic>
        <p:nvPicPr>
          <p:cNvPr id="18" name="Graphic 17" descr="Management with solid fill">
            <a:extLst>
              <a:ext uri="{FF2B5EF4-FFF2-40B4-BE49-F238E27FC236}">
                <a16:creationId xmlns:a16="http://schemas.microsoft.com/office/drawing/2014/main" id="{8419AC85-BA2D-9C19-6B73-1BF5ECA88AB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1851" y="5697050"/>
            <a:ext cx="466344" cy="466344"/>
          </a:xfrm>
          <a:prstGeom prst="rect">
            <a:avLst/>
          </a:prstGeom>
        </p:spPr>
      </p:pic>
      <p:pic>
        <p:nvPicPr>
          <p:cNvPr id="20" name="Graphic 19" descr="Bar chart with solid fill">
            <a:extLst>
              <a:ext uri="{FF2B5EF4-FFF2-40B4-BE49-F238E27FC236}">
                <a16:creationId xmlns:a16="http://schemas.microsoft.com/office/drawing/2014/main" id="{6E7E6DBF-56D1-7C6B-5CBC-1BB5B155FC9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4933" y="6287209"/>
            <a:ext cx="466344" cy="4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481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4625-D5A4-B69D-29D1-9CF96A100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764792"/>
          </a:xfrm>
          <a:solidFill>
            <a:srgbClr val="1F3A64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7B770-9436-D640-F057-5EAD30034BB9}"/>
              </a:ext>
            </a:extLst>
          </p:cNvPr>
          <p:cNvSpPr txBox="1"/>
          <p:nvPr/>
        </p:nvSpPr>
        <p:spPr>
          <a:xfrm>
            <a:off x="0" y="1764793"/>
            <a:ext cx="12191999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1F3A64"/>
                </a:solidFill>
              </a:rPr>
              <a:t>Key Takeaways</a:t>
            </a:r>
          </a:p>
          <a:p>
            <a:pPr>
              <a:buNone/>
            </a:pPr>
            <a:endParaRPr lang="en-US" sz="2400" b="1" dirty="0">
              <a:solidFill>
                <a:srgbClr val="1F3A64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The HR Analytics Dashboard transformed raw employee data into meaningful business insights. </a:t>
            </a:r>
          </a:p>
          <a:p>
            <a:endParaRPr lang="en-US" sz="2400" dirty="0">
              <a:solidFill>
                <a:srgbClr val="1F3A64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The dashboard enables HR leaders to monitor workforce trends through interactive visualizations. </a:t>
            </a:r>
          </a:p>
          <a:p>
            <a:endParaRPr lang="en-US" sz="2400" dirty="0">
              <a:solidFill>
                <a:srgbClr val="1F3A64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A64"/>
                </a:solidFill>
              </a:rPr>
              <a:t>The findings support evidence-based decisions aimed at improving employee retention, recruitment, engagement, and organizational performance. </a:t>
            </a:r>
          </a:p>
          <a:p>
            <a:endParaRPr lang="en-US" sz="2400" dirty="0">
              <a:solidFill>
                <a:srgbClr val="1F3A64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rgbClr val="1F3A64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>
              <a:buNone/>
            </a:pPr>
            <a:endParaRPr lang="en-US" b="1" dirty="0">
              <a:solidFill>
                <a:srgbClr val="1F3A64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1F3A64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2400" b="1" dirty="0">
                <a:solidFill>
                  <a:srgbClr val="1F3A64"/>
                </a:solidFill>
              </a:rPr>
              <a:t>Thank You</a:t>
            </a:r>
            <a:endParaRPr lang="en-US" sz="2400" dirty="0">
              <a:solidFill>
                <a:srgbClr val="1F3A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166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1927</TotalTime>
  <Words>481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HR Analytics Dashboard Employee Data Analysis (2006–2019) </vt:lpstr>
      <vt:lpstr>Project Overview </vt:lpstr>
      <vt:lpstr>VISUALS</vt:lpstr>
      <vt:lpstr>Data Cleaning and Preparation </vt:lpstr>
      <vt:lpstr> Dashboard Overview Interactive HR Analytics Dashboard  </vt:lpstr>
      <vt:lpstr>PowerPoint Presentation</vt:lpstr>
      <vt:lpstr>Key Workforce Metrics</vt:lpstr>
      <vt:lpstr>Employee Turnover Analysis </vt:lpstr>
      <vt:lpstr>Recruitment Effectiveness </vt:lpstr>
      <vt:lpstr>Compensation and Employee Experience </vt:lpstr>
      <vt:lpstr>Strategic Recommendations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Ijeoma Okeke</dc:creator>
  <cp:lastModifiedBy>Ijeoma Okeke</cp:lastModifiedBy>
  <cp:revision>4</cp:revision>
  <dcterms:created xsi:type="dcterms:W3CDTF">2026-07-15T11:33:40Z</dcterms:created>
  <dcterms:modified xsi:type="dcterms:W3CDTF">2026-07-16T19:41:29Z</dcterms:modified>
</cp:coreProperties>
</file>